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C24A8-9887-4261-88DE-F6CC71727EE9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416A-1814-48BA-BF3E-D14A59201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51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416A-1814-48BA-BF3E-D14A59201D4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46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918" y="821233"/>
            <a:ext cx="10993549" cy="147501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 Mutual Fund Analytics Project</a:t>
            </a:r>
          </a:p>
        </p:txBody>
      </p:sp>
      <p:pic>
        <p:nvPicPr>
          <p:cNvPr id="11" name="Picture 10" descr="Brand Guide | Bluestock">
            <a:extLst>
              <a:ext uri="{FF2B5EF4-FFF2-40B4-BE49-F238E27FC236}">
                <a16:creationId xmlns:a16="http://schemas.microsoft.com/office/drawing/2014/main" id="{89C147D9-F8BF-F9C5-7CF3-B08C6F75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3295471"/>
            <a:ext cx="10993546" cy="468233"/>
          </a:xfrm>
        </p:spPr>
        <p:txBody>
          <a:bodyPr>
            <a:noAutofit/>
          </a:bodyPr>
          <a:lstStyle/>
          <a:p>
            <a:r>
              <a:rPr lang="en-IN" sz="2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Internship Project</a:t>
            </a:r>
            <a:b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b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Gouri Sundara</a:t>
            </a:r>
            <a:b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br>
              <a:rPr lang="en-IN" sz="22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| Pandas | SQLite | Power BI | JUPYTER Notebook</a:t>
            </a:r>
            <a:endParaRPr lang="en-US" sz="2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6F7E5-3155-0659-0786-73D24B472C3B}"/>
              </a:ext>
            </a:extLst>
          </p:cNvPr>
          <p:cNvSpPr txBox="1"/>
          <p:nvPr/>
        </p:nvSpPr>
        <p:spPr>
          <a:xfrm>
            <a:off x="3048000" y="3246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2" name="Picture 11" descr="Bluestock Fintech · GitHub">
            <a:extLst>
              <a:ext uri="{FF2B5EF4-FFF2-40B4-BE49-F238E27FC236}">
                <a16:creationId xmlns:a16="http://schemas.microsoft.com/office/drawing/2014/main" id="{0FFEBDA4-DC03-C2A4-6A8C-5C39B7888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306" y="1490300"/>
            <a:ext cx="865551" cy="8655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AAC83B1-E18E-5727-34C6-C95E34EF8F3D}"/>
              </a:ext>
            </a:extLst>
          </p:cNvPr>
          <p:cNvSpPr/>
          <p:nvPr/>
        </p:nvSpPr>
        <p:spPr>
          <a:xfrm>
            <a:off x="4149854" y="2528654"/>
            <a:ext cx="8042146" cy="20382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3961F-66B1-EE14-72F3-616B344A3D7E}"/>
              </a:ext>
            </a:extLst>
          </p:cNvPr>
          <p:cNvSpPr/>
          <p:nvPr/>
        </p:nvSpPr>
        <p:spPr>
          <a:xfrm>
            <a:off x="0" y="1233342"/>
            <a:ext cx="8692055" cy="20382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FF137-49AD-58C5-693A-AB8B4A6909C1}"/>
              </a:ext>
            </a:extLst>
          </p:cNvPr>
          <p:cNvSpPr/>
          <p:nvPr/>
        </p:nvSpPr>
        <p:spPr>
          <a:xfrm>
            <a:off x="157061" y="440299"/>
            <a:ext cx="11872857" cy="138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BD10-6C89-5D6F-BE59-69CADEE2B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713" y="482978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 descr="Brand Guide | Bluestock">
            <a:extLst>
              <a:ext uri="{FF2B5EF4-FFF2-40B4-BE49-F238E27FC236}">
                <a16:creationId xmlns:a16="http://schemas.microsoft.com/office/drawing/2014/main" id="{3D5F7656-57D8-BB94-8DF0-F9FA20FC4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pic>
        <p:nvPicPr>
          <p:cNvPr id="4" name="Picture 3" descr="Bluestock Fintech · GitHub">
            <a:extLst>
              <a:ext uri="{FF2B5EF4-FFF2-40B4-BE49-F238E27FC236}">
                <a16:creationId xmlns:a16="http://schemas.microsoft.com/office/drawing/2014/main" id="{1C9121D8-8E2D-DD5F-F62F-4AFD1000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0736" y="544369"/>
            <a:ext cx="865551" cy="865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23A9D1-352E-B412-1DDA-1E90CF7E3C23}"/>
              </a:ext>
            </a:extLst>
          </p:cNvPr>
          <p:cNvSpPr txBox="1"/>
          <p:nvPr/>
        </p:nvSpPr>
        <p:spPr>
          <a:xfrm>
            <a:off x="399393" y="1669050"/>
            <a:ext cx="694733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Mutual Fund industry has experienced rapid growth in assets under management (AUM), SIP inflows, and investor participation.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investors face challenges in: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Comparing fund performance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Understanding risk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Tracking market trends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Selecting suitable funds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build a complete analytics solution that transforms mutual fund data into actionable insights.</a:t>
            </a:r>
          </a:p>
        </p:txBody>
      </p:sp>
      <p:pic>
        <p:nvPicPr>
          <p:cNvPr id="9" name="Picture 8" descr="Mutual Funds India | Basics History Returns Ratings of Mutual Funds">
            <a:extLst>
              <a:ext uri="{FF2B5EF4-FFF2-40B4-BE49-F238E27FC236}">
                <a16:creationId xmlns:a16="http://schemas.microsoft.com/office/drawing/2014/main" id="{011AA0D2-C84D-6F0A-873E-676E19CBF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02" y="1406549"/>
            <a:ext cx="4262602" cy="434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3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3EF9-CB4B-F8AA-92A1-B34AD329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90" y="435368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61935F8E-2B3D-AA37-D855-D1761BCB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630" y="558149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BBD4E70A-702D-AAEB-E2D2-C309C4A9F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951495-CFFF-2FA5-F43F-A7636C8F60E3}"/>
              </a:ext>
            </a:extLst>
          </p:cNvPr>
          <p:cNvSpPr txBox="1"/>
          <p:nvPr/>
        </p:nvSpPr>
        <p:spPr>
          <a:xfrm>
            <a:off x="630621" y="1498341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an ETL pipeline for mutual fund datasets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 a structured SQLite database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 Exploratory Data Analysis (EDA)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Calculate performance metrics such as: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CAGR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Sharpe Ratio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Sortino Ratio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Alpha &amp; Beta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advanced risk analytics: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CVaR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Rolling Sharpe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an interactive Power BI dashboard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 fund recommendations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84C70-709C-150B-8BBF-0C76C39FA465}"/>
              </a:ext>
            </a:extLst>
          </p:cNvPr>
          <p:cNvSpPr txBox="1"/>
          <p:nvPr/>
        </p:nvSpPr>
        <p:spPr>
          <a:xfrm>
            <a:off x="3048000" y="3246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7" name="Picture 16" descr="Clipart Panda - Free Clipart Images">
            <a:extLst>
              <a:ext uri="{FF2B5EF4-FFF2-40B4-BE49-F238E27FC236}">
                <a16:creationId xmlns:a16="http://schemas.microsoft.com/office/drawing/2014/main" id="{FB664DC6-E95D-1037-2E1E-36793EC10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236" y="1575315"/>
            <a:ext cx="3750880" cy="408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5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A096-16DE-43DA-3610-1B8343AD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90" y="351286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4238C398-7EBE-3798-A45E-DD1A84BC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630" y="607431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B7A1ABDC-9011-9DA3-AF0C-DF21BBBA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4468D5-A170-0E51-59CF-89144E88D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6891"/>
              </p:ext>
            </p:extLst>
          </p:nvPr>
        </p:nvGraphicFramePr>
        <p:xfrm>
          <a:off x="679012" y="1557447"/>
          <a:ext cx="10014169" cy="4601300"/>
        </p:xfrm>
        <a:graphic>
          <a:graphicData uri="http://schemas.openxmlformats.org/drawingml/2006/table">
            <a:tbl>
              <a:tblPr/>
              <a:tblGrid>
                <a:gridCol w="10014169">
                  <a:extLst>
                    <a:ext uri="{9D8B030D-6E8A-4147-A177-3AD203B41FA5}">
                      <a16:colId xmlns:a16="http://schemas.microsoft.com/office/drawing/2014/main" val="121295664"/>
                    </a:ext>
                  </a:extLst>
                </a:gridCol>
              </a:tblGrid>
              <a:tr h="332076"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Datasets: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47807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 Master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928413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 History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972612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 by Fund House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4337184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Monthly SIP Inflows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480675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 Inflows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138141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Folio Count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42796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Scheme Performance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037180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Investor Transactions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949762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 Holdings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865932"/>
                  </a:ext>
                </a:extLst>
              </a:tr>
              <a:tr h="332076">
                <a:tc>
                  <a:txBody>
                    <a:bodyPr/>
                    <a:lstStyle/>
                    <a:p>
                      <a:pPr marL="342900" indent="-342900" algn="just">
                        <a:buFont typeface="Arial" panose="020B0604020202020204" pitchFamily="34" charset="0"/>
                        <a:buChar char="•"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 Indices</a:t>
                      </a:r>
                    </a:p>
                  </a:txBody>
                  <a:tcPr marL="83019" marR="83019" marT="41510" marB="41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4874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8AD3EE9-B301-5BF8-D3EB-BCB789410FFB}"/>
              </a:ext>
            </a:extLst>
          </p:cNvPr>
          <p:cNvSpPr txBox="1"/>
          <p:nvPr/>
        </p:nvSpPr>
        <p:spPr>
          <a:xfrm>
            <a:off x="4597181" y="1751752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Datasets Used: 10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Mutual Fund Schemes: 40</a:t>
            </a:r>
          </a:p>
        </p:txBody>
      </p:sp>
    </p:spTree>
    <p:extLst>
      <p:ext uri="{BB962C8B-B14F-4D97-AF65-F5344CB8AC3E}">
        <p14:creationId xmlns:p14="http://schemas.microsoft.com/office/powerpoint/2010/main" val="80981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5B62-32F6-CEB5-FDB5-0FD52BC3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8" y="30924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7566BA-48D6-149F-19C0-FD3CE507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180" y="1402680"/>
            <a:ext cx="4572000" cy="5292410"/>
          </a:xfrm>
          <a:prstGeom prst="rect">
            <a:avLst/>
          </a:prstGeom>
        </p:spPr>
      </p:pic>
      <p:pic>
        <p:nvPicPr>
          <p:cNvPr id="12" name="Picture 11" descr="Bluestock Fintech · GitHub">
            <a:extLst>
              <a:ext uri="{FF2B5EF4-FFF2-40B4-BE49-F238E27FC236}">
                <a16:creationId xmlns:a16="http://schemas.microsoft.com/office/drawing/2014/main" id="{C981715C-8B76-9BB0-BA55-68CF6F724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161" y="642233"/>
            <a:ext cx="865551" cy="865551"/>
          </a:xfrm>
          <a:prstGeom prst="rect">
            <a:avLst/>
          </a:prstGeom>
        </p:spPr>
      </p:pic>
      <p:pic>
        <p:nvPicPr>
          <p:cNvPr id="13" name="Picture 12" descr="Brand Guide | Bluestock">
            <a:extLst>
              <a:ext uri="{FF2B5EF4-FFF2-40B4-BE49-F238E27FC236}">
                <a16:creationId xmlns:a16="http://schemas.microsoft.com/office/drawing/2014/main" id="{7B623291-0142-423F-B8DD-54A6C009A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4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EF61-1111-3E37-70A6-51FE16918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70" y="351286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Highlights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858E82FA-246D-19C3-78C1-81C8C15F5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642233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F7561BDB-8B27-D4F8-9A66-7ECE4A049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42A204-F0A4-2C3C-50FB-8FDE4F3732EE}"/>
              </a:ext>
            </a:extLst>
          </p:cNvPr>
          <p:cNvSpPr txBox="1"/>
          <p:nvPr/>
        </p:nvSpPr>
        <p:spPr>
          <a:xfrm>
            <a:off x="346841" y="1413190"/>
            <a:ext cx="839776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SIP inflows increased steadily between 2022 and 2025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AUM growth shows strong expansion of the mutual fund industry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Equity-oriented schemes dominate investor interest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Industry folio counts nearly doubled during the study period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29EF44-EF68-7786-C44E-DAC530576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6675"/>
            <a:ext cx="6390289" cy="31531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778281-5EC8-D4A9-3290-2278787B1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288" y="3137829"/>
            <a:ext cx="5801711" cy="324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57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2E44C-6312-D417-1B99-07063B72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537" y="358998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3988F63A-6C32-B66E-8BD1-6B4C9E0F4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642233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42C39129-3A1A-4DAE-72CC-67EF29629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9A93D1-B92E-1021-1831-1DC0C1E56A88}"/>
              </a:ext>
            </a:extLst>
          </p:cNvPr>
          <p:cNvSpPr txBox="1"/>
          <p:nvPr/>
        </p:nvSpPr>
        <p:spPr>
          <a:xfrm>
            <a:off x="423537" y="1507784"/>
            <a:ext cx="730469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Investors are concentrated in major states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T30 cities contribute significant investment volume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SIP is the most preferred investment mode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Younger investors show increasing participation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3BD49B-A694-DF0E-AE00-0060246C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82" y="3062631"/>
            <a:ext cx="3382199" cy="3597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180469-496D-286A-090E-74EBE5154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21757"/>
            <a:ext cx="5108191" cy="29269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CB5E30E-045B-1E30-D324-1FC41C37A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8227" y="3623544"/>
            <a:ext cx="4463773" cy="293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0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77F3-33AA-227A-EA73-DB51D979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76" y="33026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 Analytics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FB1292C4-3538-6977-2DEF-A3A44837B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BA8BE0AB-98E9-2BCE-8BAF-89FF9B7F5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43D68-78B8-6E0A-E4C7-7D8F76517165}"/>
              </a:ext>
            </a:extLst>
          </p:cNvPr>
          <p:cNvSpPr txBox="1"/>
          <p:nvPr/>
        </p:nvSpPr>
        <p:spPr>
          <a:xfrm>
            <a:off x="355176" y="150778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Calculated: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CAGR (1Y, 3Y, 5Y)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Sharpe Ratio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Sortino Ratio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Alpha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Beta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Maximum Drawdown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Tracking Error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Composite Fund Score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80F200-30B3-898C-A146-0F66B7E901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6819" y="1211667"/>
            <a:ext cx="8885181" cy="372590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5BFDE9-1F1A-935F-BE9B-0B5D018C423E}"/>
              </a:ext>
            </a:extLst>
          </p:cNvPr>
          <p:cNvSpPr txBox="1"/>
          <p:nvPr/>
        </p:nvSpPr>
        <p:spPr>
          <a:xfrm>
            <a:off x="203768" y="4937571"/>
            <a:ext cx="119882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101207 delivered the strongest overall performance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peaking above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(Base = 100)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2024–2025 and finishing well above most other funds, indicating superior long-term growth.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119095 showed high growth but also high volatility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reaching levels above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180–200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experiencing significant drawdowns, suggesting higher return potential with greater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top funds outperformed NIFTY50 and NIFTY100 over the analysis period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particularly Funds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101207, 119095, and 119092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stronger wealth creation than the benchmark indices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3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5A8AE-58AB-F455-A69C-27E3E4D50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39" y="267203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Risk Analytics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F87A231F-CAA3-9F87-7135-250494B52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642233"/>
            <a:ext cx="865551" cy="8655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04C739-28F6-0372-9192-EBC8908E945B}"/>
              </a:ext>
            </a:extLst>
          </p:cNvPr>
          <p:cNvSpPr txBox="1"/>
          <p:nvPr/>
        </p:nvSpPr>
        <p:spPr>
          <a:xfrm>
            <a:off x="418239" y="1255535"/>
            <a:ext cx="112250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Metrics Implemented: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Historical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, Rolling 90-Day Sharpe Ratio , HHI Portfolio Concentration Index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Conditional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(CVaR) , SIP Continuity Analysis , Investor Cohort Analysis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E773D1-733F-F481-ED2B-728EF806F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" y="2353970"/>
            <a:ext cx="11855669" cy="4476305"/>
          </a:xfrm>
          <a:prstGeom prst="rect">
            <a:avLst/>
          </a:prstGeom>
        </p:spPr>
      </p:pic>
      <p:pic>
        <p:nvPicPr>
          <p:cNvPr id="11" name="Picture 10" descr="Brand Guide | Bluestock">
            <a:extLst>
              <a:ext uri="{FF2B5EF4-FFF2-40B4-BE49-F238E27FC236}">
                <a16:creationId xmlns:a16="http://schemas.microsoft.com/office/drawing/2014/main" id="{1DF35F72-6D08-317A-3C73-25172BD11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793" y="6626453"/>
            <a:ext cx="1493207" cy="20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7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D7A4-49AF-CDEC-B872-871FF74C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39" y="309244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934EC851-E64A-BF96-4BEB-75A7088C2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5DD4D41E-DCF2-06C0-FC4E-0E9FA7781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AE0E87-3E2D-BFFB-F1F4-BE074316B7EC}"/>
              </a:ext>
            </a:extLst>
          </p:cNvPr>
          <p:cNvSpPr txBox="1"/>
          <p:nvPr/>
        </p:nvSpPr>
        <p:spPr>
          <a:xfrm>
            <a:off x="670487" y="1413190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Overview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Analytics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Performance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&amp; Market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EDAFE-3BC5-33CF-0790-FA4FAB2A5B80}"/>
              </a:ext>
            </a:extLst>
          </p:cNvPr>
          <p:cNvSpPr txBox="1"/>
          <p:nvPr/>
        </p:nvSpPr>
        <p:spPr>
          <a:xfrm>
            <a:off x="670487" y="3069947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Interactive slicers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KPI cards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Fund drill-through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Trend analysis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Investor analytics</a:t>
            </a:r>
          </a:p>
        </p:txBody>
      </p:sp>
      <p:pic>
        <p:nvPicPr>
          <p:cNvPr id="11" name="Picture 10" descr="Microsoft Power Bi Logo Png – Instructions pour publier des visuels ...">
            <a:extLst>
              <a:ext uri="{FF2B5EF4-FFF2-40B4-BE49-F238E27FC236}">
                <a16:creationId xmlns:a16="http://schemas.microsoft.com/office/drawing/2014/main" id="{7899FE68-86DA-DD63-C0B3-4DA260902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675" y="1413190"/>
            <a:ext cx="6232635" cy="346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0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4B36-6E78-032D-EDB5-51C9AA318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59" y="31975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[Industry overview]</a:t>
            </a:r>
          </a:p>
        </p:txBody>
      </p:sp>
      <p:pic>
        <p:nvPicPr>
          <p:cNvPr id="5" name="Picture 4" descr="Bluestock Fintech · GitHub">
            <a:extLst>
              <a:ext uri="{FF2B5EF4-FFF2-40B4-BE49-F238E27FC236}">
                <a16:creationId xmlns:a16="http://schemas.microsoft.com/office/drawing/2014/main" id="{9B6D6366-BB26-A578-5B11-429FC7774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6" name="Picture 5" descr="Brand Guide | Bluestock">
            <a:extLst>
              <a:ext uri="{FF2B5EF4-FFF2-40B4-BE49-F238E27FC236}">
                <a16:creationId xmlns:a16="http://schemas.microsoft.com/office/drawing/2014/main" id="{FCFF46ED-1E9A-F997-2AE9-872A1C5C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FDE09D-179E-8574-2494-2AD033C10EBB}"/>
              </a:ext>
            </a:extLst>
          </p:cNvPr>
          <p:cNvSpPr txBox="1"/>
          <p:nvPr/>
        </p:nvSpPr>
        <p:spPr>
          <a:xfrm>
            <a:off x="218541" y="1617092"/>
            <a:ext cx="4773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AUM grew strongly between 2022 and 2024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rising investor participation and expanding opportunities for asset management companies.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 is concentrated among a few large fund houses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SBI Mutual Fund, ICICI Prudential, and HDFC Mutual Fund leading in AUM, highlighting a highly competitive but concentrated industry structure.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SIP inflows and a large scheme base suggest sustained retail investor interest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long-term growth potential for the mutual fund industry.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BAB09C-CE0A-4193-7BFC-12D9823C4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153" y="1750292"/>
            <a:ext cx="6957848" cy="391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4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8FEE-D207-1FC2-81FE-65E309FE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350C-5539-FF26-890F-BEDB8EEF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59" y="31975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[investor analytics]</a:t>
            </a:r>
          </a:p>
        </p:txBody>
      </p:sp>
      <p:pic>
        <p:nvPicPr>
          <p:cNvPr id="5" name="Picture 4" descr="Bluestock Fintech · GitHub">
            <a:extLst>
              <a:ext uri="{FF2B5EF4-FFF2-40B4-BE49-F238E27FC236}">
                <a16:creationId xmlns:a16="http://schemas.microsoft.com/office/drawing/2014/main" id="{F24DD85F-0088-5D74-4406-D7C2D4389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6" name="Picture 5" descr="Brand Guide | Bluestock">
            <a:extLst>
              <a:ext uri="{FF2B5EF4-FFF2-40B4-BE49-F238E27FC236}">
                <a16:creationId xmlns:a16="http://schemas.microsoft.com/office/drawing/2014/main" id="{48980E4A-EBED-C47A-789B-C4473DD4F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7A0B5C-D15E-23B0-AA0E-74DB4C2D64E1}"/>
              </a:ext>
            </a:extLst>
          </p:cNvPr>
          <p:cNvSpPr txBox="1"/>
          <p:nvPr/>
        </p:nvSpPr>
        <p:spPr>
          <a:xfrm>
            <a:off x="0" y="1503713"/>
            <a:ext cx="47738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participation is geographically diversified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states such as Punjab, Tamil Nadu, and Madhya Pradesh contributing the highest transaction volumes, indicating broad retail investor engagement across regions.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Lumpsum investments dominate transaction value (≈58%)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exceeding SIP and redemption volumes, suggesting investors are allocating larger one-time investments during the analysis period.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SIP amounts are consistent across age groups (~₹106K–₹108K)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mutual fund adoption and investment capacity are relatively balanced among different generations of investors.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AA0DD-F8BD-55C3-2BFB-9C5ADBDEF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082" y="1589831"/>
            <a:ext cx="7535918" cy="458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7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213D0-22F1-74C7-15FE-51C5E134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613B-0A3D-BCA9-2E20-18D6DB403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59" y="31975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[fund performance]</a:t>
            </a:r>
          </a:p>
        </p:txBody>
      </p:sp>
      <p:pic>
        <p:nvPicPr>
          <p:cNvPr id="5" name="Picture 4" descr="Bluestock Fintech · GitHub">
            <a:extLst>
              <a:ext uri="{FF2B5EF4-FFF2-40B4-BE49-F238E27FC236}">
                <a16:creationId xmlns:a16="http://schemas.microsoft.com/office/drawing/2014/main" id="{64AFA012-88A4-F25D-A06E-18A7C59B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6" name="Picture 5" descr="Brand Guide | Bluestock">
            <a:extLst>
              <a:ext uri="{FF2B5EF4-FFF2-40B4-BE49-F238E27FC236}">
                <a16:creationId xmlns:a16="http://schemas.microsoft.com/office/drawing/2014/main" id="{37A2F92A-06D1-4B4D-26FE-08EB7F919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D91718-B2F2-6F79-5CE8-9FE249CA7575}"/>
              </a:ext>
            </a:extLst>
          </p:cNvPr>
          <p:cNvSpPr txBox="1"/>
          <p:nvPr/>
        </p:nvSpPr>
        <p:spPr>
          <a:xfrm>
            <a:off x="0" y="1503713"/>
            <a:ext cx="4773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Higher-risk fund categories generally delivered higher returns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shown in the Risk vs Return analysis, indicating a positive risk–reward relationship for investors seeking long-term growth.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UTI and SBI schemes rank among the top-performing funds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demonstrating strong consistency across return metrics, Sharpe Ratio, Alpha, and Beta scores.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 showed steady long-term growth from 2022–2026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individual fund NAVs experienced greater fluctuations, highlighting the importance of diversification and active fund selection.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EFB6B6-72B0-7832-89B9-5B335CC81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872" y="1716332"/>
            <a:ext cx="7418128" cy="409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3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D17F-031F-829F-A72B-54AFF4ED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BAFD-E3E1-10EB-381A-93A436B7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259" y="319755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[sip &amp; market trends]</a:t>
            </a:r>
          </a:p>
        </p:txBody>
      </p:sp>
      <p:pic>
        <p:nvPicPr>
          <p:cNvPr id="5" name="Picture 4" descr="Bluestock Fintech · GitHub">
            <a:extLst>
              <a:ext uri="{FF2B5EF4-FFF2-40B4-BE49-F238E27FC236}">
                <a16:creationId xmlns:a16="http://schemas.microsoft.com/office/drawing/2014/main" id="{53B3FC16-F7E4-8575-CC50-9E702F78F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6" name="Picture 5" descr="Brand Guide | Bluestock">
            <a:extLst>
              <a:ext uri="{FF2B5EF4-FFF2-40B4-BE49-F238E27FC236}">
                <a16:creationId xmlns:a16="http://schemas.microsoft.com/office/drawing/2014/main" id="{07315BED-469F-4CA7-03A6-512C5B3A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1E4DF8-B39A-D19D-E6BD-A3F14402283B}"/>
              </a:ext>
            </a:extLst>
          </p:cNvPr>
          <p:cNvSpPr txBox="1"/>
          <p:nvPr/>
        </p:nvSpPr>
        <p:spPr>
          <a:xfrm>
            <a:off x="73573" y="1503713"/>
            <a:ext cx="4773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inflows remained relatively stable from 2022–2025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consistent retail investor participation despite fluctuations in the NIFTY 50 index.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 Funds attracted the highest net inflows (≈0.45M crore)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significantly outperforming other categories, suggesting investors prioritized liquidity and lower-risk investment options.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Sectoral/Thematic and Flexi Cap categories emerged as strong growth segments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increasing investor interest in diversified and theme-driven investment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CCCE7-1853-AD1E-FA98-928073A2E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352" y="1503713"/>
            <a:ext cx="7262648" cy="42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26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B298B-2CAC-5140-85A1-55AF1A3F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77" y="309244"/>
            <a:ext cx="11029616" cy="98833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Recommendations</a:t>
            </a:r>
          </a:p>
        </p:txBody>
      </p:sp>
      <p:pic>
        <p:nvPicPr>
          <p:cNvPr id="3" name="Picture 2" descr="Bluestock Fintech · GitHub">
            <a:extLst>
              <a:ext uri="{FF2B5EF4-FFF2-40B4-BE49-F238E27FC236}">
                <a16:creationId xmlns:a16="http://schemas.microsoft.com/office/drawing/2014/main" id="{33E024D3-422A-4A8B-53EC-EE014A73B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161" y="547639"/>
            <a:ext cx="865551" cy="865551"/>
          </a:xfrm>
          <a:prstGeom prst="rect">
            <a:avLst/>
          </a:prstGeom>
        </p:spPr>
      </p:pic>
      <p:pic>
        <p:nvPicPr>
          <p:cNvPr id="4" name="Picture 3" descr="Brand Guide | Bluestock">
            <a:extLst>
              <a:ext uri="{FF2B5EF4-FFF2-40B4-BE49-F238E27FC236}">
                <a16:creationId xmlns:a16="http://schemas.microsoft.com/office/drawing/2014/main" id="{BCC70756-C499-D639-FB17-D045F5C4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30222C-A632-E865-A3E9-39044AD29DF0}"/>
              </a:ext>
            </a:extLst>
          </p:cNvPr>
          <p:cNvSpPr txBox="1"/>
          <p:nvPr/>
        </p:nvSpPr>
        <p:spPr>
          <a:xfrm>
            <a:off x="515007" y="1526049"/>
            <a:ext cx="1016350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Several funds achieved superior Sharpe Ratios indicating better risk-adjusted returns.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SIP inflows showed consistent growth over the analysis period.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HHI funds demonstrate greater portfolio concentration risk.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Investor cohorts entering in recent years contributed larger investment amounts.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Funds with high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carry greater downside risk.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5706E-3E28-7ACE-CFF9-1FAFA61BEAC0}"/>
              </a:ext>
            </a:extLst>
          </p:cNvPr>
          <p:cNvSpPr txBox="1"/>
          <p:nvPr/>
        </p:nvSpPr>
        <p:spPr>
          <a:xfrm>
            <a:off x="515007" y="4042252"/>
            <a:ext cx="790903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Prefer funds with strong Sharpe Ratios.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 concentration risk using HHI.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SIP continuity among at-risk investors.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risk-grade based fund recommendations.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 rolling Sharpe ratios for performance monitoring.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9A230F-A9FF-2C44-FFCC-2467FEACBAA0}"/>
              </a:ext>
            </a:extLst>
          </p:cNvPr>
          <p:cNvSpPr/>
          <p:nvPr/>
        </p:nvSpPr>
        <p:spPr>
          <a:xfrm>
            <a:off x="515007" y="3741084"/>
            <a:ext cx="7909035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902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FBC4-9E6C-7EC0-76AE-3AB350D2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026" y="2229686"/>
            <a:ext cx="11029616" cy="988332"/>
          </a:xfrm>
        </p:spPr>
        <p:txBody>
          <a:bodyPr>
            <a:noAutofit/>
          </a:bodyPr>
          <a:lstStyle/>
          <a:p>
            <a:r>
              <a:rPr lang="en-IN" sz="7000" b="1" dirty="0">
                <a:solidFill>
                  <a:srgbClr val="0048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6B7F6-FB12-E66C-2B82-70EDF3623B74}"/>
              </a:ext>
            </a:extLst>
          </p:cNvPr>
          <p:cNvSpPr/>
          <p:nvPr/>
        </p:nvSpPr>
        <p:spPr>
          <a:xfrm>
            <a:off x="157061" y="440299"/>
            <a:ext cx="11872857" cy="1387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A4D63-BA48-6D19-A3CE-98033594E31B}"/>
              </a:ext>
            </a:extLst>
          </p:cNvPr>
          <p:cNvSpPr/>
          <p:nvPr/>
        </p:nvSpPr>
        <p:spPr>
          <a:xfrm>
            <a:off x="0" y="1451203"/>
            <a:ext cx="8692055" cy="20382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CBAA8A-245B-02D6-75BF-B81CD591139A}"/>
              </a:ext>
            </a:extLst>
          </p:cNvPr>
          <p:cNvSpPr/>
          <p:nvPr/>
        </p:nvSpPr>
        <p:spPr>
          <a:xfrm>
            <a:off x="3499945" y="3492837"/>
            <a:ext cx="8692055" cy="20382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Bluestock Fintech · GitHub">
            <a:extLst>
              <a:ext uri="{FF2B5EF4-FFF2-40B4-BE49-F238E27FC236}">
                <a16:creationId xmlns:a16="http://schemas.microsoft.com/office/drawing/2014/main" id="{3D2D30D3-1CA6-A30C-0695-ACF0DEA69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289" y="0"/>
            <a:ext cx="1212629" cy="1212629"/>
          </a:xfrm>
          <a:prstGeom prst="rect">
            <a:avLst/>
          </a:prstGeom>
        </p:spPr>
      </p:pic>
      <p:pic>
        <p:nvPicPr>
          <p:cNvPr id="7" name="Picture 6" descr="Brand Guide | Bluestock">
            <a:extLst>
              <a:ext uri="{FF2B5EF4-FFF2-40B4-BE49-F238E27FC236}">
                <a16:creationId xmlns:a16="http://schemas.microsoft.com/office/drawing/2014/main" id="{21BF5BC2-3317-4DA1-3EF7-46D358A06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09" y="6558455"/>
            <a:ext cx="1493207" cy="20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4520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{41CCA40F-7487-4646-B97B-DEC6CCC71472}TF201209c3-d067-44f9-a26f-c8f216c4431347f6cf9d_win32-4021059b889a</Template>
  <TotalTime>116</TotalTime>
  <Words>936</Words>
  <Application>Microsoft Office PowerPoint</Application>
  <PresentationFormat>Widescreen</PresentationFormat>
  <Paragraphs>117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Franklin Gothic Book</vt:lpstr>
      <vt:lpstr>Franklin Gothic Demi</vt:lpstr>
      <vt:lpstr>Times New Roman</vt:lpstr>
      <vt:lpstr>Wingdings 2</vt:lpstr>
      <vt:lpstr>DividendVTI</vt:lpstr>
      <vt:lpstr>BLUESTOCK Mutual Fund Analytics Project</vt:lpstr>
      <vt:lpstr>Problem Statement</vt:lpstr>
      <vt:lpstr>Project Objectives</vt:lpstr>
      <vt:lpstr>Data Sources</vt:lpstr>
      <vt:lpstr>Project Architecture</vt:lpstr>
      <vt:lpstr>EDA Highlights</vt:lpstr>
      <vt:lpstr>Investor Analytics</vt:lpstr>
      <vt:lpstr>Fund Performance Analytics</vt:lpstr>
      <vt:lpstr>Advanced Risk Analytics</vt:lpstr>
      <vt:lpstr>Dashboard Overview</vt:lpstr>
      <vt:lpstr>Power BI Dashboard [Industry overview]</vt:lpstr>
      <vt:lpstr>Power BI Dashboard [investor analytics]</vt:lpstr>
      <vt:lpstr>Power BI Dashboard [fund performance]</vt:lpstr>
      <vt:lpstr>Power BI Dashboard [sip &amp; market trends]</vt:lpstr>
      <vt:lpstr>Key Findings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sundara sri gouri</dc:creator>
  <cp:lastModifiedBy>sundara sri gouri</cp:lastModifiedBy>
  <cp:revision>6</cp:revision>
  <dcterms:created xsi:type="dcterms:W3CDTF">2026-06-11T17:23:07Z</dcterms:created>
  <dcterms:modified xsi:type="dcterms:W3CDTF">2026-06-11T19:46:48Z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